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71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2" r:id="rId19"/>
    <p:sldId id="274" r:id="rId20"/>
    <p:sldId id="276" r:id="rId21"/>
    <p:sldId id="277" r:id="rId22"/>
    <p:sldId id="27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364" y="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大家好，今天我将向大家汇报我们团队在过去10天内完成的一个创新项目——日志溯源卫士智能体，代号Log Trace Guard。这是一个由AI驱动的安全日志分析与网络安全实训平台。本次汇报将详细介绍项目的定位、核心功能、技术架构以及我们取得的成果。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九个部分。首先，我们会明确项目的定位与核心价值。接着，深入探讨产品的双形态设计和分层架构。然后，我们会逐一介绍五大核心功能模块，并解析背后的RAG知识库体系。之后，我们会展示CLI工具和前端设计的亮点，以及项目采用的工程化设计模式。最后，通过版本演进、测试体系和项目总览，全面总结我们的特色亮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旨在解决网络安全领域的三大核心痛点。首先，面对海量日志，传统人工分析效率低下且依赖个人经验。我们的方案通过5种专用解析器实现了日志的自动识别和风险研判。其次，合规工作往往无章可循，我们内置了等保、网安法等知识库，提供智能自查和整改建议。最后，传统网安实训缺乏有效反馈，我们的平台通过双维度校验和自动评分，提供了高效的实训考核机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满足不同用户的需求，我们设计了Web智能体和CLI工具两种产品形态。Web端基于FastAPI和Vue3构建，提供了友好的可视化界面，适合日常运维和实训场景。而CLI工具则基于Python开发，提供了强大的命令行接口，适合自动化脚本和快速分析。两者共享同一套业务逻辑，确保了功能的一致性和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架构设计上，我们采用了清晰的五层分层架构。从下至上分别是数据层、通用工具层、核心引擎层、业务模块层和应用路由层。这种设计保证了层级间的依赖关系清晰，最重要的是，五大业务模块实现了完全的零耦合，它们之间没有直接的导入关系，这使得每个模块都可以独立开发、测试和演进，极大地提升了项目的可维护性和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设计了创新的三层通用推理架构。当用户请求到达时，首先由规则引擎进行匹配，对于已知场景，能保证100%的准确性。如果规则匹配不足，则进入RAG知识库进行检索，补充相关知识后返回。对于需要深度解读或无知识可用的场景，才会调用LLM进行智能生成。这种架构不仅保证了基础功能的稳定可靠，还通过自动降级机制，确保在LLM服务不可用时，系统依然能够正常工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平台围绕五大核心功能模块构建，外加一个扩展模块。这五大模块分别是：日志解析、采集架构指导、脚本生成与技术赋能、合规审计基线，以及攻防实训考核。每个模块都提供了丰富的API接口，覆盖了从日志分析到合规审计，再到实战演练的完整安全运营闭环。接下来，我将对每个模块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前端方面，我们采用了Vue 3.5、Element Plus和TypeScript的现代化技术栈。一个核心亮点是运维和实训双模式UI。用户可以一键切换模式，系统会根据角色隐藏或显示相应的模块，例如实训模式会额外显示攻防实训模块。我们还封装了10个高度可复用的组件，如新手引导、风险标签、代码块高亮等，大大提升了开发效率和用户体验的一致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日志解析模块。我们开发了5种专用解析器，分别针对SSH、Web、WAF、防火墙和数据库日志。每个解析器都内置了精准的正则表达式和识别逻辑。例如，SSHParser能检测到失败的登录尝试和高危命令，而DBParser则能识别15种危险的SQL关键词。解析后的输出包含超过18个标准字段，并附带P0到P3的风险等级、置信度评分以及具体的修复建议，极大地提升了日志分析的效率和深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模块是日志采集架构指导。我们提供了四种采集策略，覆盖了从网络设备、服务器到数据库的各种日志来源。平台能根据用户输入的设备信息，通过三级匹配算法智能推荐最合适的采集方案。同时，我们还开发了一套五维度故障诊断评分算法，帮助用户快速定位采集失败的原因。此外，平台内置了轻量ELK、分布式ELK和企业SIEM三种架构模板，为不同规模的企业提供即开即用的部署参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模块是脚本生成与技术赋能，旨在提升安全人员的工作效率。平台可以根据自然语言描述，自动生成正则规则和ES查询语句。我们设计了四级级联生成策略，确保生成结果的准确性和实用性。此外，平台还能根据企业的实际情况，提供日志平台的选型建议。最核心的是攻击链路溯源功能，它将攻击过程划分为六个阶段，并提供七步溯源流水线和三种搜索脚本，帮助分析人员快速定位攻击路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模块是合规审计基线。我们的平台内置了等保2.0、网络安全法和数据安全法的核心要求。用户可以通过RAG进行精准的合规问答，或由LLM进行智能解读。平台能够根据企业的资产规模，自适应调整审计策略的严格程度。我们还实现了8项关键配置的硬编码检查，并通过一个加权算法计算合规得分。所有检查都支持批量并行处理，并能生成详细的汇总报告，大大简化了合规工作的复杂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五个模块是攻防实训考核。我们设计了12个实训场景，涵盖超过20个具体任务。平台采用创新的双维度校验引擎，既通过规则进行精准匹配，也通过LLM进行语义相似度比对，确保评分的公平和准确。我们建立了三级评分体系，对于未通过的学员，系统会强制要求复盘。此外，平台还能自动讲解7种常见攻击的原理，并检测学员的6类能力薄弱项，生成综合评级报告，实现了从训练到考核再到能力评估的完整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v3.0版本中，我们对日志联合审查功能进行了重大升级，推出了安全威胁狩猎模块。我们引入了关键词和LLM双引擎分析模式，大大提升了检测的智能性。现在支持多文件同时上传，进行关联分析。攻击链规则也从基础规则扩展到22种检测模式。特别值得一提的是，我们设计了四层容错解析机制，即使面对不完整或损坏的JSON日志，也能通过截断修复、正则提取等方式尽可能地恢复信息，保证了分析的连续性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RAG知识库体系是平台智能的核心。我们构建了五大知识库，涵盖了日志基础、合规审计、采集架构、技术脚本和实训案例，总计259条高质量文档。这些知识存储在ChromaDB向量库中，为LLM提供精准的上下文信息。为了保证在不同环境下的可用性，我们设计了三级嵌入降级策略。在有GPU的环境下，使用效果最好的BGE模型；在资源受限的环境中，会自动降级到MiniLM甚至N-gram模型，确保RAG功能始终可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CLI工具设计了两种交互模式。对于新手用户，提供了友好的菜单模式，通过逐层引导完成操作。对于高级用户，我们提供了强大的AI对话模式，可以直接用自然语言下达指令，系统会自动进行意图分类、调用相应模块并润色结果。工具提供了16个命令行参数，覆盖了所有核心功能。最关键的是，它的唯一运行时依赖只有requests库，这使得部署和使用变得异常简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保证项目的可扩展性和可维护性，我们全面采用了工程化的设计模式。我们大量使用了工厂模式和策略模式，使得新增一个日志解析器或采集策略，只需要创建新的类并注册到工厂即可，完全不需要修改核心代码，完美符合开闭原则。同时，单例模式保证了全局资源的统一管理，模板方法模式定义了流程骨架，外观模式则为复杂的内部逻辑提供了简洁的API接口。这些设计模式的综合运用，是项目能够快速迭代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每个版本的迭代都围绕着一个核心问题展开。v1.0解决了如何快速搭建模块化后端的问题。v2.0解决了如何将API服务包装成完整产品的问题。v2.1则聚焦于用户体验，解决了使用流程中的痛点。而v3.0则致力于提升产品的智能化水平，解决了关联分析不够智能的问题。这种以问题为导向的迭代方式，确保了我们的开发始终聚焦于核心价值的创造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我们非常重视代码质量，为此建立了完善的测试体系。目前，我们编写了369个单元测试，覆盖了API、核心模块、工具函数等所有关键部分，并且全部通过。我们还配置了CI/CD流水线，通过GitHub Actions实现了自动化测试和CLI工具的自动发布。每次代码推送或合并请求，都会自动触发测试，确保了代码的稳定性和可靠性。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通过这张数据总览来回顾整个项目的成果。在短短10天内，我们完成了78次Git提交，新增了超过3万8千行代码。项目包含29个API端点、21个前端页面和10个可复用组件。我们构建了包含259条文档的RAG知识库，并编写了369个全部通过的单元测试。此外，项目还实现了6种设计模式、5种日志解析器、4种采集策略、22种攻击链模式和12个实训场景。这些数字充分展示了项目的广度和深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我的汇报到此结束。日志溯源卫士智能体是一个集日志分析、合规审计和攻防实训于一体的综合性平台，我们相信它能够为企业的网络安全工作带来显著的价值。感谢大家的聆听！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jpe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6.jpeg"/><Relationship Id="rId7" Type="http://schemas.openxmlformats.org/officeDocument/2006/relationships/image" Target="../media/image1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jpe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6.jpe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svg"/><Relationship Id="rId5" Type="http://schemas.openxmlformats.org/officeDocument/2006/relationships/image" Target="../media/image31.svg"/><Relationship Id="rId4" Type="http://schemas.openxmlformats.org/officeDocument/2006/relationships/image" Target="../media/image3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5.svg"/><Relationship Id="rId4" Type="http://schemas.openxmlformats.org/officeDocument/2006/relationships/image" Target="../media/image34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6.jpe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svg"/><Relationship Id="rId5" Type="http://schemas.openxmlformats.org/officeDocument/2006/relationships/image" Target="../media/image39.svg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svg"/><Relationship Id="rId5" Type="http://schemas.openxmlformats.org/officeDocument/2006/relationships/image" Target="../media/image41.svg"/><Relationship Id="rId4" Type="http://schemas.openxmlformats.org/officeDocument/2006/relationships/image" Target="../media/image40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4.sv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svg"/><Relationship Id="rId3" Type="http://schemas.openxmlformats.org/officeDocument/2006/relationships/image" Target="../media/image6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11" Type="http://schemas.openxmlformats.org/officeDocument/2006/relationships/image" Target="../media/image12.svg"/><Relationship Id="rId5" Type="http://schemas.openxmlformats.org/officeDocument/2006/relationships/image" Target="../media/image34.svg"/><Relationship Id="rId10" Type="http://schemas.openxmlformats.org/officeDocument/2006/relationships/image" Target="../media/image47.svg"/><Relationship Id="rId4" Type="http://schemas.openxmlformats.org/officeDocument/2006/relationships/image" Target="../media/image45.sv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日志溯源卫士智能体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429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驱动的安全日志分析与网络安全实训平台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699000"/>
            <a:ext cx="24130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19200" y="4902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25600" y="4902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当前版本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19200" y="53848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v3.0.0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594100" y="4699000"/>
            <a:ext cx="24130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97300" y="4902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203700" y="4902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敏捷开发周期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797300" y="53848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10 天交付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4699000"/>
            <a:ext cx="24130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5400" y="4902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781800" y="4902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核心代码规模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75400" y="53848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38,058 行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763000" y="4699000"/>
            <a:ext cx="2413000" cy="139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66200" y="49022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372600" y="4902200"/>
            <a:ext cx="165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测试用例覆盖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966200" y="5384800"/>
            <a:ext cx="2108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369 项</a:t>
            </a:r>
            <a:endParaRPr lang="en-US" sz="11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DFD0F55-0DB7-A256-3930-B33DBE8BE589}"/>
              </a:ext>
            </a:extLst>
          </p:cNvPr>
          <p:cNvSpPr txBox="1"/>
          <p:nvPr/>
        </p:nvSpPr>
        <p:spPr>
          <a:xfrm>
            <a:off x="9505043" y="4006334"/>
            <a:ext cx="18306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汇报人：张雯炫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254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87500" y="1879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项目定位与价值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413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明确项目的核心目标与愿景，深度剖析其在业务场景中的商业价值与技术赋能点。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302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492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87500" y="3530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产品形态与架构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064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解析“本地+云端”双形态设计，详解高可用、易扩展的分层技术架构与系统组成。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953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5143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87500" y="5181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五大核心功能模块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5715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逐一拆解核心业务场景，从文档解析到智能问答，展示各模块的功能与实现细节。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445000" y="1651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35500" y="1841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270500" y="1879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RAG 知识库体系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635500" y="2413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深度解析检索增强生成技术，揭秘知识库的构建、更新与智能召回的核心原理。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3302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635500" y="3492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270500" y="3530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CLI 工具与前端设计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4635500" y="4064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展示高效的开发者工具链，打造简洁直观的用户交互界面，提升操作体验。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4953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4635500" y="5143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5270500" y="5181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工程化设计模式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635500" y="5715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规范开发流程与代码管理，引入成熟的设计模式与最佳实践，保障系统可维护性。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128000" y="1651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8318500" y="1841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953500" y="1879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版本演进历程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318500" y="2413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回顾项目的迭代之路，梳理从原型到成熟版本的功能升级与技术重构脉络。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8128000" y="3302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3" name="AutoShape 33"/>
          <p:cNvSpPr/>
          <p:nvPr/>
        </p:nvSpPr>
        <p:spPr>
          <a:xfrm>
            <a:off x="8318500" y="3492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08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953500" y="3530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测试体系与项目总览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8318500" y="4064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构建全链路质量保障体系，通过全方位的测试验证，复盘项目成果与交付质量。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8128000" y="4953000"/>
            <a:ext cx="3302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8318500" y="5143500"/>
            <a:ext cx="635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09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8953500" y="5181600"/>
            <a:ext cx="241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特色亮点总结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318500" y="5715000"/>
            <a:ext cx="292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提炼项目的核心技术优势与创新点，展望未来的应用场景与持续优化方向。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项目定位与价值：三大行业痛点 vs 本项目方案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968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日志晦涩难辨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3750">
            <a:off x="952513" y="2597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28194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7940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传统人工分析模式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2004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完全依赖人工逐行筛查海量日志，效率低下且极度依赖分析师个人经验，极易遗漏关键威胁线索。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41910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270000" y="41656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智能解析与研判引擎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4572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内置5种专用解析器自动识别异构日志，结构化提取关键信息，结合威胁情报库自动研判风险，效率提升百倍。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318000" y="17145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4508500" y="1968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合规建设无方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3750">
            <a:off x="4508513" y="2597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8500" y="2819400"/>
            <a:ext cx="254000" cy="254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826000" y="27940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被动式合规摸索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4508500" y="32004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面对繁杂的法规标准，只能通过查阅文档、咨询专家来推进，流程繁琐且整改措施缺乏针对性，合规效率极低。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8500" y="41910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826000" y="41656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法规库+智能自查闭环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08500" y="4572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集成等保2.0、网安法、数安法全量合规知识库，系统自动对标检查，生成可视化差距报告与具体整改清单。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874000" y="1714500"/>
            <a:ext cx="3556000" cy="39370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8064500" y="19685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实训效果空泛</a:t>
            </a:r>
            <a:endParaRPr lang="en-US" sz="1100"/>
          </a:p>
        </p:txBody>
      </p:sp>
      <p:cxnSp>
        <p:nvCxnSpPr>
          <p:cNvPr id="24" name="Connector 24"/>
          <p:cNvCxnSpPr/>
          <p:nvPr/>
        </p:nvCxnSpPr>
        <p:spPr>
          <a:xfrm rot="-13750">
            <a:off x="8064513" y="2597150"/>
            <a:ext cx="3175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64500" y="2819400"/>
            <a:ext cx="254000" cy="254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382000" y="27940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单向输出无反馈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064500" y="3200400"/>
            <a:ext cx="317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E5E7EB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传统网安实训多为模拟演示，缺乏实战攻防的真实校验，无自动纠错与能力评估，技能提升效果难以量化。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64500" y="4191000"/>
            <a:ext cx="254000" cy="2540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8382000" y="4165600"/>
            <a:ext cx="298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实战校验与能力画像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8064500" y="4572000"/>
            <a:ext cx="317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部署双维度智能校验引擎，实时反馈攻击路径与防御效果，自动生成操作评分、原理讲解及个人能力评估报告。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0E5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以智能化技术赋能安全运营，将被动防御转为主动治理，构建可落地、可量化、可持续的网络安全防护体系。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产品形态——双形态产品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714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Web 智能体 · 可视化交互端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4889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全栈架构：FastAPI 高性能后端 + Vue3 + TS 现代化前端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服务部署：后端 8000 端口提供 API，前端 5173 热重载调试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核心能力：封装 29 个标准 RESTful API，集成 ChromaDB 向量检索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工程规模：5,000+ 行高可维护性前端工程代码沉淀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12471" r="12471"/>
          <a:stretch>
            <a:fillRect/>
          </a:stretch>
        </p:blipFill>
        <p:spPr>
          <a:xfrm>
            <a:off x="1143000" y="4318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 l="6675" r="6675"/>
          <a:stretch>
            <a:fillRect/>
          </a:stretch>
        </p:blipFill>
        <p:spPr>
          <a:xfrm>
            <a:off x="2349500" y="4318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 l="12718" r="12718"/>
          <a:stretch>
            <a:fillRect/>
          </a:stretch>
        </p:blipFill>
        <p:spPr>
          <a:xfrm>
            <a:off x="3556000" y="4318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rcRect l="41336" r="41336"/>
          <a:stretch>
            <a:fillRect/>
          </a:stretch>
        </p:blipFill>
        <p:spPr>
          <a:xfrm>
            <a:off x="4762500" y="43180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6159500" y="1524000"/>
            <a:ext cx="5270500" cy="3683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50000" y="1714500"/>
            <a:ext cx="4889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CLI 工具 · 自动化脚本端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286000"/>
            <a:ext cx="48895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环境兼容：支持 Python 3.8+ 纯净环境，无图形化界面依赖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快捷入口：全局注册 log-guard 命令，一键启动分析任务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灵活配置：支持 16 个自定义参数，轻量级 JSON 本地缓存加速</a:t>
            </a: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F0F0F0"/>
                </a:solidFill>
                <a:latin typeface="Noto Sans SC"/>
                <a:ea typeface="Noto Sans SC"/>
                <a:cs typeface="Noto Sans SC"/>
                <a:sym typeface="Noto Sans SC"/>
              </a:rPr>
              <a:t>• 代码沉淀：约 20,000 行核心 Python 代码，高度模块化设计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8234351" y="40005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762000" y="54610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762000" y="5613400"/>
            <a:ext cx="10668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C8F0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“基于同一套核心业务逻辑，Web端满足可视化交互与实时监控需求，CLI工具赋能自动化脚本与批量处理场景，实现全场景覆盖。”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五层分层架构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981200" cy="266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5200" y="2006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965200" y="2565400"/>
            <a:ext cx="1574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应用路由层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65200" y="3073400"/>
            <a:ext cx="1574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 路由分发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全局中间件拦截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Pydantic 数据校验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870200" y="1778000"/>
            <a:ext cx="1981200" cy="266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073400" y="2006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073400" y="2565400"/>
            <a:ext cx="1574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业务模块层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073400" y="3073400"/>
            <a:ext cx="1574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5大核心业务模块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模块间零耦合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支持独立部署演进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978400" y="1778000"/>
            <a:ext cx="1981200" cy="266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81600" y="2006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81600" y="2565400"/>
            <a:ext cx="1574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智能引擎层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181600" y="3073400"/>
            <a:ext cx="1574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LLM 动态工厂模式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业务规则引擎调度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RAG 检索增强与记忆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086600" y="1778000"/>
            <a:ext cx="1981200" cy="266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89800" y="2006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289800" y="2565400"/>
            <a:ext cx="1574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通用工具层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289800" y="3073400"/>
            <a:ext cx="1574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结构化日志组件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文件与JSON处理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统一响应结果封装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94800" y="1778000"/>
            <a:ext cx="1981200" cy="2667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98000" y="20066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9398000" y="2565400"/>
            <a:ext cx="15748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基础数据层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398000" y="3073400"/>
            <a:ext cx="15748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JSON 业务规则配置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ChromaDB 向量库</a:t>
            </a:r>
            <a:b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C8D2DC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知识库持久化存储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82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F172A">
              <a:alpha val="40000"/>
            </a:srgbClr>
          </a:solidFill>
          <a:ln w="12700" cap="flat" cmpd="sng">
            <a:solidFill>
              <a:srgbClr val="00E5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105400"/>
            <a:ext cx="457200" cy="4572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600200" y="50800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层级解耦，依赖清晰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600200" y="55372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严格遵循自上而下的单向依赖原则，上层调用下层能力，杜绝循环依赖，保障系统结构稳定，降低维护成本。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482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F172A">
              <a:alpha val="40000"/>
            </a:srgbClr>
          </a:solidFill>
          <a:ln w="12700" cap="flat" cmpd="sng">
            <a:solidFill>
              <a:srgbClr val="00E5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77000" y="51054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061200" y="5080000"/>
            <a:ext cx="4191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模块自治，敏捷迭代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061200" y="55372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2E8F0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业务模块实现物理与逻辑的双重隔离，无直接代码依赖，支持独立开发、测试、部署与技术栈的灵活升级。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核心设计——三层通用推理架构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3A3A3A">
              <a:alpha val="5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规则引擎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JSON 与正则的精准匹配，无延迟</a:t>
            </a:r>
          </a:p>
        </p:txBody>
      </p:sp>
      <p:cxnSp>
        <p:nvCxnSpPr>
          <p:cNvPr id="6" name="Connector 6"/>
          <p:cNvCxnSpPr/>
          <p:nvPr/>
        </p:nvCxnSpPr>
        <p:spPr>
          <a:xfrm rot="5342709">
            <a:off x="4064000" y="208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4635500" y="1841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✅ 精准匹配成功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覆盖已知高频场景，100%准确</a:t>
            </a:r>
          </a:p>
        </p:txBody>
      </p:sp>
      <p:cxnSp>
        <p:nvCxnSpPr>
          <p:cNvPr id="8" name="Connector 8"/>
          <p:cNvCxnSpPr/>
          <p:nvPr/>
        </p:nvCxnSpPr>
        <p:spPr>
          <a:xfrm rot="5342709">
            <a:off x="7112000" y="208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747000" y="1841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直接返回结果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无需外部调用，毫秒级极速响应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2857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3A3A3A">
              <a:alpha val="5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1016000" y="3048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RAG 知识库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 ChromaDB 的向量检索增强生成</a:t>
            </a:r>
          </a:p>
        </p:txBody>
      </p:sp>
      <p:cxnSp>
        <p:nvCxnSpPr>
          <p:cNvPr id="12" name="Connector 12"/>
          <p:cNvCxnSpPr/>
          <p:nvPr/>
        </p:nvCxnSpPr>
        <p:spPr>
          <a:xfrm rot="5342709">
            <a:off x="4064000" y="3422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35500" y="31750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🔍 检索到关联知识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引入私有数据，拒绝模型幻觉</a:t>
            </a:r>
          </a:p>
        </p:txBody>
      </p:sp>
      <p:cxnSp>
        <p:nvCxnSpPr>
          <p:cNvPr id="14" name="Connector 14"/>
          <p:cNvCxnSpPr/>
          <p:nvPr/>
        </p:nvCxnSpPr>
        <p:spPr>
          <a:xfrm rot="5342709">
            <a:off x="7112000" y="3422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747000" y="31750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知识增强返回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结合业务文档，输出可溯源内容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3A3A3A">
              <a:alpha val="5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3815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LLM 智能推理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大模型深度语义理解与生成</a:t>
            </a:r>
          </a:p>
        </p:txBody>
      </p:sp>
      <p:cxnSp>
        <p:nvCxnSpPr>
          <p:cNvPr id="18" name="Connector 18"/>
          <p:cNvCxnSpPr/>
          <p:nvPr/>
        </p:nvCxnSpPr>
        <p:spPr>
          <a:xfrm rot="5342709">
            <a:off x="4064000" y="4756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4635500" y="4508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🧠 自主生成回答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处理未知问题，提供深度洞见</a:t>
            </a:r>
          </a:p>
        </p:txBody>
      </p:sp>
      <p:cxnSp>
        <p:nvCxnSpPr>
          <p:cNvPr id="20" name="Connector 20"/>
          <p:cNvCxnSpPr/>
          <p:nvPr/>
        </p:nvCxnSpPr>
        <p:spPr>
          <a:xfrm rot="5342709">
            <a:off x="7112000" y="4756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747000" y="4508500"/>
            <a:ext cx="342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9FF14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高价值智能返回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解决复杂逻辑、创意生成与咨询问答</a:t>
            </a:r>
          </a:p>
        </p:txBody>
      </p:sp>
      <p:sp>
        <p:nvSpPr>
          <p:cNvPr id="22" name="AutoShape 22"/>
          <p:cNvSpPr/>
          <p:nvPr/>
        </p:nvSpPr>
        <p:spPr>
          <a:xfrm>
            <a:off x="762000" y="5524500"/>
            <a:ext cx="7112000" cy="10160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651500"/>
            <a:ext cx="685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</a:t>
            </a: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构建“精准-增强-智能”的三级防护网，确保基础场景零延迟、业务场景可溯源、复杂场景可决策。系统具备自动降级能力，保障服务高可用性。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128000" y="55245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5" name="AutoShape 25"/>
          <p:cNvSpPr/>
          <p:nvPr/>
        </p:nvSpPr>
        <p:spPr>
          <a:xfrm>
            <a:off x="9207500" y="56515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DeepSeek 驱动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强大的国产大模型推理能力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赋能企业级 AI 应用落地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五大核心功能模块总览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日志解析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API接口数：6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046">
            <a:off x="952508" y="2089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952500" y="2197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自动识别日志类型并完成结构化提取，结合内置模型进行风险研判与字段智能释义，实现海量日志的快速解析与价值挖掘。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3327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采集架构指导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API接口数：6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9046">
            <a:off x="952508" y="374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952500" y="3848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基于设备类型智能匹配采集方案，提供采集链路故障诊断与企业级架构推荐，全方位保障日志采集的完整性与系统稳定性。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52500" y="4978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 脚本生成与技术赋能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API接口数：7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046">
            <a:off x="952508" y="5391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952500" y="5499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自动生成正则表达式、ES查询及溯源脚本，提供安全平台选型建议与脚本智能纠错优化，降低安全运营的技术门槛。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524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1676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04 合规审计基线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API接口数：4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9046">
            <a:off x="6413508" y="2089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413500" y="2197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覆盖主流安全标准的智能问答，支持自定义个性化合规基线，提供自动化合规自查与资产批量检查，快速定位合规风险点。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3175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6413500" y="3327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05 攻防实训考核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API接口数：4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9046">
            <a:off x="6413508" y="3740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6413500" y="3848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智能下发实战化攻防任务，从攻击路径有效性与防御处置效果双维度校验，配套原理讲解与自动化考核报告生成。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4826000"/>
            <a:ext cx="52070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13500" y="49784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06 安全威胁狩猎（扩展）</a:t>
            </a: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| API接口数：2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046">
            <a:off x="6413508" y="5391150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413500" y="5499100"/>
            <a:ext cx="4826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支持多源异构日志关联分析与多文件批量上传解析，覆盖22种攻击链全流程检测，助力安全团队主动发现隐匿威胁。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前端设计亮点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31750" y="5148943"/>
            <a:ext cx="5778500" cy="1587500"/>
          </a:xfrm>
          <a:prstGeom prst="roundRect">
            <a:avLst>
              <a:gd name="adj" fmla="val 0"/>
            </a:avLst>
          </a:prstGeom>
          <a:solidFill>
            <a:srgbClr val="0F172A">
              <a:alpha val="50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89379" y="5270500"/>
            <a:ext cx="55880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18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运维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8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实训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8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场景双模式切换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系统支持一键切换模式：运维模式聚焦日志解析、合规审计等核心功能，服务于专业运维人员；实训模式解锁全量攻防模块，为学员提供真实的模拟演练与考核环境，满足不同角色的业务需求。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096000" y="5207000"/>
            <a:ext cx="5969000" cy="1460500"/>
          </a:xfrm>
          <a:prstGeom prst="roundRect">
            <a:avLst>
              <a:gd name="adj" fmla="val 0"/>
            </a:avLst>
          </a:prstGeom>
          <a:solidFill>
            <a:srgbClr val="0F172A">
              <a:alpha val="50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342742" y="5334000"/>
            <a:ext cx="558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18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沉淀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 10+ </a:t>
            </a:r>
            <a:r>
              <a:rPr lang="en-US" sz="18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通用业务组件</a:t>
            </a:r>
            <a:endParaRPr lang="en-US" sz="1100" dirty="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 dirty="0" err="1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封装</a:t>
            </a:r>
            <a:r>
              <a:rPr lang="en-US" sz="1300" b="0" i="0" u="none" strike="noStrike" dirty="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GlobalTour（新手引导</a:t>
            </a:r>
            <a:r>
              <a:rPr lang="en-US" sz="1300" b="0" i="0" u="none" strike="noStrike" dirty="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）、</a:t>
            </a:r>
            <a:r>
              <a:rPr lang="en-US" sz="1300" b="0" i="0" u="none" strike="noStrike" dirty="0" err="1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RiskCard（风险卡片</a:t>
            </a:r>
            <a:r>
              <a:rPr lang="en-US" sz="1300" b="0" i="0" u="none" strike="noStrike" dirty="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）、CodeBlock（代码高亮）等10+高频组件，统一了产品交互语言，不仅减少了重复开发成本，更确保了跨页面体验的一致性与流畅度。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84DE3BF9-B0C2-C62C-8757-91CC90845774}"/>
              </a:ext>
            </a:extLst>
          </p:cNvPr>
          <p:cNvPicPr>
            <a:picLocks/>
          </p:cNvPicPr>
          <p:nvPr/>
        </p:nvPicPr>
        <p:blipFill>
          <a:blip r:embed="rId4"/>
          <a:srcRect l="7973" t="4028" r="1852" b="15513"/>
          <a:stretch>
            <a:fillRect/>
          </a:stretch>
        </p:blipFill>
        <p:spPr>
          <a:xfrm>
            <a:off x="1074057" y="4354286"/>
            <a:ext cx="3693886" cy="682172"/>
          </a:xfrm>
          <a:prstGeom prst="round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C5E6BBF-A053-B4ED-213B-5DDB075E49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849" y="1675793"/>
            <a:ext cx="4810197" cy="2855085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6677994C-D2EF-C063-2344-12022D08E9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57" y="1675793"/>
            <a:ext cx="4415919" cy="141899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日志解析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6 个 API 端点，5 种专用解析器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236276"/>
              </p:ext>
            </p:extLst>
          </p:nvPr>
        </p:nvGraphicFramePr>
        <p:xfrm>
          <a:off x="66333" y="2353874"/>
          <a:ext cx="6096000" cy="23622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解析器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识别关键词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核心检测能力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SSHParser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sshd, failed password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识别暴力破解与高危命令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WebParser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HTTP/1., GET /, UA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适配3种主流Web日志格式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WAFParser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waf, blocked, attack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覆盖11种Web攻击类型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DBParser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mysql, select, drop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检测15+种危险SQL操作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351329" y="6247891"/>
            <a:ext cx="11723836" cy="508001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78328" y="6287945"/>
            <a:ext cx="11235343" cy="42984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智能输出：</a:t>
            </a:r>
            <a:r>
              <a:rPr lang="en-US" sz="13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自动提取18+标准字段，生成P0-P3风险等级与置信度评分，附带可落地的安全修复建议，让日志分析从“看数据”升级为“做决策”。</a:t>
            </a:r>
            <a:endParaRPr lang="en-US" sz="11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14D00C0-3F94-B1B0-A9DA-0DBFA8DFDFE4}"/>
              </a:ext>
            </a:extLst>
          </p:cNvPr>
          <p:cNvPicPr>
            <a:picLocks/>
          </p:cNvPicPr>
          <p:nvPr/>
        </p:nvPicPr>
        <p:blipFill>
          <a:blip r:embed="rId4"/>
          <a:srcRect l="14676"/>
          <a:stretch>
            <a:fillRect/>
          </a:stretch>
        </p:blipFill>
        <p:spPr>
          <a:xfrm>
            <a:off x="6341902" y="1773696"/>
            <a:ext cx="5670528" cy="3402236"/>
          </a:xfrm>
          <a:prstGeom prst="roundRect">
            <a:avLst>
              <a:gd name="adj" fmla="val 5066"/>
            </a:avLst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模块二 — 日志采集架构指导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999882" y="1117600"/>
            <a:ext cx="596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多元化采集策略适配矩阵</a:t>
            </a:r>
            <a:endParaRPr lang="en-US" sz="1100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912772"/>
              </p:ext>
            </p:extLst>
          </p:nvPr>
        </p:nvGraphicFramePr>
        <p:xfrm>
          <a:off x="6096000" y="1701800"/>
          <a:ext cx="5969000" cy="25552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采集策略类型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适用设备与场景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传输协议与方式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Syslog 监听采集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防火墙 / WAF / 交换机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UDP 514 / TCP 514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文件路径采集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Web服务器 / Nginx / App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Filebeat 轻量代理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数据库同步采集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MySQL / PostgreSQL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DB Sync 实时拉取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Agent 代理采集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堡垒机 / HIDS / 终端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私有协议主动上报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5715000" y="4889500"/>
            <a:ext cx="5969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三大智能支撑能力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5715000" y="5308600"/>
            <a:ext cx="1879600" cy="1143000"/>
          </a:xfrm>
          <a:prstGeom prst="roundRect">
            <a:avLst>
              <a:gd name="adj" fmla="val 0"/>
            </a:avLst>
          </a:prstGeom>
          <a:solidFill>
            <a:srgbClr val="00E5FF">
              <a:alpha val="9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5435600"/>
            <a:ext cx="254000" cy="254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146800" y="5422900"/>
            <a:ext cx="147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智能设备匹配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42000" y="5791200"/>
            <a:ext cx="1676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三级匹配机制，从型号到类型精准识别，自动推荐采集方案。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721600" y="5308600"/>
            <a:ext cx="1879600" cy="1143000"/>
          </a:xfrm>
          <a:prstGeom prst="roundRect">
            <a:avLst>
              <a:gd name="adj" fmla="val 0"/>
            </a:avLst>
          </a:prstGeom>
          <a:solidFill>
            <a:srgbClr val="00E5FF">
              <a:alpha val="9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8600" y="5435600"/>
            <a:ext cx="254000" cy="25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153400" y="5422900"/>
            <a:ext cx="147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故障诊断评分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848600" y="5791200"/>
            <a:ext cx="1676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五维度健康度算法，秒级定位采集异常与链路中断点。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728200" y="5308600"/>
            <a:ext cx="1879600" cy="1143000"/>
          </a:xfrm>
          <a:prstGeom prst="roundRect">
            <a:avLst>
              <a:gd name="adj" fmla="val 0"/>
            </a:avLst>
          </a:prstGeom>
          <a:solidFill>
            <a:srgbClr val="00E5FF">
              <a:alpha val="9000"/>
            </a:srgbClr>
          </a:solidFill>
          <a:ln w="12700" cap="flat" cmpd="sng">
            <a:solidFill>
              <a:srgbClr val="00E5FF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55200" y="54356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0160000" y="5422900"/>
            <a:ext cx="14732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架构模板预置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855200" y="5791200"/>
            <a:ext cx="16764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内置轻量ELK、分布式集群及企业级SIEM模板，开箱即用。</a:t>
            </a:r>
            <a:endParaRPr lang="en-US" sz="110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BCF2BCE-ACEF-864B-3CF3-3D9358C91B5E}"/>
              </a:ext>
            </a:extLst>
          </p:cNvPr>
          <p:cNvPicPr>
            <a:picLocks/>
          </p:cNvPicPr>
          <p:nvPr/>
        </p:nvPicPr>
        <p:blipFill>
          <a:blip r:embed="rId7"/>
          <a:srcRect l="-1093" t="-1160" r="-1093" b="-1025"/>
          <a:stretch>
            <a:fillRect/>
          </a:stretch>
        </p:blipFill>
        <p:spPr>
          <a:xfrm>
            <a:off x="104499" y="1752600"/>
            <a:ext cx="5864501" cy="3255612"/>
          </a:xfrm>
          <a:prstGeom prst="roundRect">
            <a:avLst>
              <a:gd name="adj" fmla="val 10403"/>
            </a:avLst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模块三 — 脚本生成与技术赋能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90962" y="1743737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7 </a:t>
            </a:r>
            <a:r>
              <a:rPr lang="en-US" sz="20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大核心</a:t>
            </a:r>
            <a:r>
              <a:rPr lang="en-US" sz="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 API </a:t>
            </a:r>
            <a:r>
              <a:rPr lang="en-US" sz="20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端点，驱动智能安全分析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031746"/>
              </p:ext>
            </p:extLst>
          </p:nvPr>
        </p:nvGraphicFramePr>
        <p:xfrm>
          <a:off x="168846" y="2286000"/>
          <a:ext cx="6033505" cy="323087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597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7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4839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核心功能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技术实现逻辑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5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正则规则生成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4级级联：场景识别 → </a:t>
                      </a:r>
                      <a:r>
                        <a:rPr lang="en-US" sz="1300" b="0" i="0" u="none" strike="noStrike" dirty="0" err="1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模板匹配</a:t>
                      </a:r>
                      <a:r>
                        <a:rPr lang="en-US" sz="1300" b="0" i="0" u="none" strike="noStrike" dirty="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→ </a:t>
                      </a:r>
                      <a:r>
                        <a:rPr lang="en-US" sz="1300" b="0" i="0" u="none" strike="noStrike" dirty="0" err="1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RAG兜底</a:t>
                      </a:r>
                      <a:r>
                        <a:rPr lang="en-US" sz="1300" b="0" i="0" u="none" strike="noStrike" dirty="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 → </a:t>
                      </a:r>
                      <a:r>
                        <a:rPr lang="en-US" sz="1300" b="0" i="0" u="none" strike="noStrike" dirty="0" err="1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通用兜底，确保规则高适配性</a:t>
                      </a:r>
                      <a:r>
                        <a:rPr lang="en-US" sz="1300" b="0" i="0" u="none" strike="noStrike" dirty="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。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5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ES 查询生成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关键词评分排序 → 动态模板匹配 → 时间过滤器构建，精准定位日志线索。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5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平台选型推荐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5维量化模型：覆盖设备规模、日志量级、预算成本、团队技能及业务需求权重。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5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攻击链路溯源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映射6级攻击阶段，内置7步溯源流水线，自动生成3类场景化搜索脚本。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98676" y="5868642"/>
            <a:ext cx="12012190" cy="860941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68846" y="5868642"/>
            <a:ext cx="1194202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全生命周期攻击追踪：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从「侦查探测」到「初始入侵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」，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经「权限提升」与「横向移动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」，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再到「持久化驻留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」，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最终阻断「数据窃取与破坏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」，</a:t>
            </a:r>
            <a:r>
              <a:rPr lang="en-US" sz="13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实现攻击路径的全链路还原与可视化追踪</a:t>
            </a:r>
            <a:r>
              <a:rPr lang="en-US" sz="13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l="13717" r="13717"/>
          <a:stretch/>
        </p:blipFill>
        <p:spPr>
          <a:xfrm>
            <a:off x="6473163" y="2113770"/>
            <a:ext cx="5414038" cy="3403109"/>
          </a:xfrm>
          <a:prstGeom prst="rect">
            <a:avLst/>
          </a:prstGeom>
          <a:noFill/>
          <a:ln w="25400" cap="flat" cmpd="sng">
            <a:solidFill>
              <a:srgbClr val="00E5FF">
                <a:alpha val="50000"/>
              </a:srgbClr>
            </a:solidFill>
            <a:prstDash val="solid"/>
            <a:round/>
          </a:ln>
          <a:effectLst>
            <a:outerShdw blurRad="317500" dir="2700000" algn="tl" rotWithShape="0">
              <a:srgbClr val="00E5FF">
                <a:alpha val="20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模块四 — 合规审计基线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5720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</a:t>
            </a: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ISO/IEC 27001 </a:t>
            </a:r>
            <a:r>
              <a:rPr lang="en-US" sz="14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国际信息安全标准构建，将合规要求内化为可落地的技术基线，确保审计结果具备权威性与公信力，为企业满足监管要求提供坚实的技术支撑</a:t>
            </a:r>
            <a:r>
              <a:rPr lang="en-US" sz="14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207000" y="1778000"/>
            <a:ext cx="6223000" cy="1206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7500" y="1968500"/>
            <a:ext cx="355600" cy="3556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905500" y="19050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4个标准化 API 端点，无缝集成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提供审计查询、策略下发、结果上报及日志同步四大核心接口，支持与现有安全管理平台（SOC/SIEM）实时对接，打破数据孤岛。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207000" y="3175000"/>
            <a:ext cx="6223000" cy="1206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97500" y="3365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905500" y="33020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多维合规标准库，全覆盖监管要求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深度融合等保 2.0（8项控制点）、《网络安全法》及《数据安全法》关键条款，内置权威合规知识库，确保审计基准符合最新法规要求。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207000" y="4572000"/>
            <a:ext cx="6223000" cy="1206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7500" y="47625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905500" y="4699000"/>
            <a:ext cx="546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驱动的智能审计与自适应评分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利用 RAG+LLM 实现条款智能解读；基于资产规模自适应调整审计阈值；通过加权算法量化合规得分，支持批量并行扫描与可视化报告生成。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8FFD15C-9E04-BBE8-FEC4-AC2DD4ABD54F}"/>
              </a:ext>
            </a:extLst>
          </p:cNvPr>
          <p:cNvPicPr>
            <a:picLocks/>
          </p:cNvPicPr>
          <p:nvPr/>
        </p:nvPicPr>
        <p:blipFill>
          <a:blip r:embed="rId7"/>
          <a:srcRect r="22390"/>
          <a:stretch>
            <a:fillRect/>
          </a:stretch>
        </p:blipFill>
        <p:spPr>
          <a:xfrm>
            <a:off x="334403" y="1543279"/>
            <a:ext cx="4635500" cy="30785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7117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4540204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模块五</a:t>
            </a:r>
            <a:r>
              <a:rPr lang="en-US" sz="32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 — </a:t>
            </a:r>
            <a:r>
              <a:rPr lang="en-US" sz="32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攻防实训考核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325399" y="177419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</a:t>
            </a:r>
            <a:r>
              <a:rPr lang="en-US" sz="20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阶梯式评分判定标准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508418"/>
              </p:ext>
            </p:extLst>
          </p:nvPr>
        </p:nvGraphicFramePr>
        <p:xfrm>
          <a:off x="256326" y="2352040"/>
          <a:ext cx="4743270" cy="258064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8073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25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等级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分数阈值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 dirty="0" err="1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考核结果与措施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S/A级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≥ 90分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技能掌握熟练，直接通过考核，获优秀评定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70 - 89分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基础达标，需针对薄弱项进行专项优化练习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EF4444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C级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&lt; 70分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600" b="0" i="0" u="none" strike="noStrike" dirty="0" err="1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未达标，系统强制触发复盘机制，重新考核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317587" y="5274310"/>
            <a:ext cx="596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</a:t>
            </a:r>
            <a:r>
              <a:rPr lang="en-US" sz="20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实战化考核核心能力</a:t>
            </a:r>
            <a:endParaRPr lang="en-US" sz="1100" dirty="0"/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D45C551-FF48-4CEC-581A-E32188CB80C3}"/>
              </a:ext>
            </a:extLst>
          </p:cNvPr>
          <p:cNvGrpSpPr/>
          <p:nvPr/>
        </p:nvGrpSpPr>
        <p:grpSpPr>
          <a:xfrm>
            <a:off x="154269" y="5880273"/>
            <a:ext cx="6050225" cy="827693"/>
            <a:chOff x="292648" y="4787900"/>
            <a:chExt cx="6050225" cy="827693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6AD129D5-E41E-CC6D-A098-BD7ED843A0B1}"/>
                </a:ext>
              </a:extLst>
            </p:cNvPr>
            <p:cNvGrpSpPr/>
            <p:nvPr/>
          </p:nvGrpSpPr>
          <p:grpSpPr>
            <a:xfrm>
              <a:off x="292648" y="4787900"/>
              <a:ext cx="2921000" cy="825500"/>
              <a:chOff x="292648" y="4787900"/>
              <a:chExt cx="2921000" cy="825500"/>
            </a:xfrm>
          </p:grpSpPr>
          <p:sp>
            <p:nvSpPr>
              <p:cNvPr id="7" name="AutoShape 7"/>
              <p:cNvSpPr/>
              <p:nvPr/>
            </p:nvSpPr>
            <p:spPr>
              <a:xfrm>
                <a:off x="292648" y="4787900"/>
                <a:ext cx="2921000" cy="825500"/>
              </a:xfrm>
              <a:prstGeom prst="roundRect">
                <a:avLst>
                  <a:gd name="adj" fmla="val 0"/>
                </a:avLst>
              </a:prstGeom>
              <a:solidFill>
                <a:srgbClr val="FFFFFF">
                  <a:alpha val="5000"/>
                </a:srgbClr>
              </a:solidFill>
              <a:ln w="12700" cap="flat" cmpd="sng">
                <a:solidFill>
                  <a:srgbClr val="00E5FF">
                    <a:alpha val="20000"/>
                  </a:srgbClr>
                </a:solidFill>
                <a:prstDash val="solid"/>
                <a:round/>
              </a:ln>
            </p:spPr>
            <p:txBody>
              <a:bodyPr vert="horz" wrap="square" lIns="63500" tIns="63500" rIns="63500" bIns="63500" rtlCol="0" anchor="ctr"/>
              <a:lstStyle/>
              <a:p>
                <a:pPr algn="ctr">
                  <a:defRPr/>
                </a:pPr>
                <a:endParaRPr/>
              </a:p>
            </p:txBody>
          </p:sp>
          <p:pic>
            <p:nvPicPr>
              <p:cNvPr id="8" name="Picture 8"/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94705" y="4921250"/>
                <a:ext cx="304800" cy="304800"/>
              </a:xfrm>
              <a:prstGeom prst="rect">
                <a:avLst/>
              </a:prstGeom>
            </p:spPr>
          </p:pic>
          <p:sp>
            <p:nvSpPr>
              <p:cNvPr id="9" name="AutoShape 9"/>
              <p:cNvSpPr/>
              <p:nvPr/>
            </p:nvSpPr>
            <p:spPr>
              <a:xfrm>
                <a:off x="800648" y="4876800"/>
                <a:ext cx="2349500" cy="635000"/>
              </a:xfrm>
              <a:prstGeom prst="rect">
                <a:avLst/>
              </a:prstGeom>
              <a:noFill/>
              <a:ln w="12700" cap="flat" cmpd="sng">
                <a:noFill/>
                <a:prstDash val="solid"/>
                <a:round/>
              </a:ln>
            </p:spPr>
            <p:txBody>
              <a:bodyPr vert="horz" wrap="square" lIns="0" tIns="0" rIns="0" bIns="0" rtlCol="0" anchor="ctr" anchorCtr="0"/>
              <a:lstStyle/>
              <a:p>
                <a:pPr marL="0" indent="0" algn="l">
                  <a:lnSpc>
                    <a:spcPct val="125000"/>
                  </a:lnSpc>
                  <a:defRPr/>
                </a:pPr>
                <a:r>
                  <a:rPr lang="en-US" sz="1600" b="1" i="0" u="none" strike="noStrike" dirty="0" err="1">
                    <a:solidFill>
                      <a:srgbClr val="FFFFFF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多场景全覆盖</a:t>
                </a:r>
                <a:endParaRPr lang="en-US" sz="1100" dirty="0"/>
              </a:p>
              <a:p>
                <a:pPr marL="0" indent="0" algn="l">
                  <a:lnSpc>
                    <a:spcPct val="125000"/>
                  </a:lnSpc>
                </a:pPr>
                <a:r>
                  <a:rPr lang="en-US" sz="1200" b="0" i="0" u="none" strike="noStrike" dirty="0">
                    <a:solidFill>
                      <a:srgbClr val="D1D5DB"/>
                    </a:solidFill>
                    <a:latin typeface="Noto Sans SC"/>
                    <a:ea typeface="Noto Sans SC"/>
                    <a:cs typeface="Noto Sans SC"/>
                    <a:sym typeface="Noto Sans SC"/>
                  </a:rPr>
                  <a:t>12个真实攻防场景，包含20+实战任务与靶场环境</a:t>
                </a:r>
              </a:p>
            </p:txBody>
          </p:sp>
        </p:grpSp>
        <p:sp>
          <p:nvSpPr>
            <p:cNvPr id="10" name="AutoShape 10"/>
            <p:cNvSpPr/>
            <p:nvPr/>
          </p:nvSpPr>
          <p:spPr>
            <a:xfrm>
              <a:off x="3421873" y="4790093"/>
              <a:ext cx="2921000" cy="825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E5FF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1" name="Picture 11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574273" y="4955193"/>
              <a:ext cx="304800" cy="304800"/>
            </a:xfrm>
            <a:prstGeom prst="rect">
              <a:avLst/>
            </a:prstGeom>
          </p:spPr>
        </p:pic>
        <p:sp>
          <p:nvSpPr>
            <p:cNvPr id="12" name="AutoShape 12"/>
            <p:cNvSpPr/>
            <p:nvPr/>
          </p:nvSpPr>
          <p:spPr>
            <a:xfrm>
              <a:off x="3936223" y="4898390"/>
              <a:ext cx="23495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双重智能校验</a:t>
              </a:r>
              <a:endParaRPr lang="en-US" sz="1100" dirty="0"/>
            </a:p>
            <a:p>
              <a:pPr marL="0" indent="0" algn="l">
                <a:lnSpc>
                  <a:spcPct val="125000"/>
                </a:lnSpc>
              </a:pPr>
              <a:r>
                <a:rPr lang="en-US" sz="1200" b="0" i="0" u="none" strike="noStrike" dirty="0" err="1">
                  <a:solidFill>
                    <a:srgbClr val="D1D5D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规则精准匹配</a:t>
              </a:r>
              <a:r>
                <a:rPr lang="en-US" sz="1200" b="0" i="0" u="none" strike="noStrike" dirty="0">
                  <a:solidFill>
                    <a:srgbClr val="D1D5D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 + </a:t>
              </a:r>
              <a:r>
                <a:rPr lang="en-US" sz="1200" b="0" i="0" u="none" strike="noStrike" dirty="0" err="1">
                  <a:solidFill>
                    <a:srgbClr val="D1D5D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LLM语义相似度比对，确保评分客观</a:t>
              </a:r>
              <a:endParaRPr lang="en-US" sz="12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CE9D57A-DE17-0F7A-3917-18784CF12934}"/>
              </a:ext>
            </a:extLst>
          </p:cNvPr>
          <p:cNvGrpSpPr/>
          <p:nvPr/>
        </p:nvGrpSpPr>
        <p:grpSpPr>
          <a:xfrm>
            <a:off x="6285723" y="5890260"/>
            <a:ext cx="2928353" cy="825500"/>
            <a:chOff x="653273" y="5775563"/>
            <a:chExt cx="2921000" cy="825500"/>
          </a:xfrm>
        </p:grpSpPr>
        <p:sp>
          <p:nvSpPr>
            <p:cNvPr id="13" name="AutoShape 13"/>
            <p:cNvSpPr/>
            <p:nvPr/>
          </p:nvSpPr>
          <p:spPr>
            <a:xfrm>
              <a:off x="653273" y="5775563"/>
              <a:ext cx="2921000" cy="825500"/>
            </a:xfrm>
            <a:prstGeom prst="roundRect">
              <a:avLst>
                <a:gd name="adj" fmla="val 0"/>
              </a:avLst>
            </a:prstGeom>
            <a:solidFill>
              <a:srgbClr val="FFFFFF">
                <a:alpha val="5000"/>
              </a:srgbClr>
            </a:solidFill>
            <a:ln w="12700" cap="flat" cmpd="sng">
              <a:solidFill>
                <a:srgbClr val="00E5FF">
                  <a:alpha val="20000"/>
                </a:srgbClr>
              </a:solidFill>
              <a:prstDash val="solid"/>
              <a:round/>
            </a:ln>
          </p:spPr>
          <p:txBody>
            <a:bodyPr vert="horz" wrap="square" lIns="63500" tIns="63500" rIns="63500" bIns="63500" rtlCol="0" anchor="ctr"/>
            <a:lstStyle/>
            <a:p>
              <a:pPr algn="ctr">
                <a:defRPr/>
              </a:pPr>
              <a:endParaRPr/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05673" y="5940663"/>
              <a:ext cx="304800" cy="304800"/>
            </a:xfrm>
            <a:prstGeom prst="rect">
              <a:avLst/>
            </a:prstGeom>
          </p:spPr>
        </p:pic>
        <p:sp>
          <p:nvSpPr>
            <p:cNvPr id="15" name="AutoShape 15"/>
            <p:cNvSpPr/>
            <p:nvPr/>
          </p:nvSpPr>
          <p:spPr>
            <a:xfrm>
              <a:off x="1161273" y="5864463"/>
              <a:ext cx="2349500" cy="635000"/>
            </a:xfrm>
            <a:prstGeom prst="rect">
              <a:avLst/>
            </a:prstGeom>
            <a:noFill/>
            <a:ln w="12700" cap="flat" cmpd="sng">
              <a:noFill/>
              <a:prstDash val="solid"/>
              <a:round/>
            </a:ln>
          </p:spPr>
          <p:txBody>
            <a:bodyPr vert="horz" wrap="square" lIns="0" tIns="0" rIns="0" bIns="0" rtlCol="0" anchor="ctr" anchorCtr="0"/>
            <a:lstStyle/>
            <a:p>
              <a:pPr marL="0" indent="0" algn="l">
                <a:lnSpc>
                  <a:spcPct val="125000"/>
                </a:lnSpc>
                <a:defRPr/>
              </a:pPr>
              <a:r>
                <a:rPr lang="en-US" sz="1600" b="1" i="0" u="none" strike="noStrike" dirty="0" err="1">
                  <a:solidFill>
                    <a:srgbClr val="FFFFFF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攻击原理自驱讲解</a:t>
              </a:r>
              <a:endParaRPr lang="en-US" sz="1100" dirty="0"/>
            </a:p>
            <a:p>
              <a:pPr marL="0" indent="0" algn="l">
                <a:lnSpc>
                  <a:spcPct val="125000"/>
                </a:lnSpc>
              </a:pPr>
              <a:r>
                <a:rPr lang="en-US" sz="1200" b="0" i="0" u="none" strike="noStrike" dirty="0">
                  <a:solidFill>
                    <a:srgbClr val="D1D5DB"/>
                  </a:solidFill>
                  <a:latin typeface="Noto Sans SC"/>
                  <a:ea typeface="Noto Sans SC"/>
                  <a:cs typeface="Noto Sans SC"/>
                  <a:sym typeface="Noto Sans SC"/>
                </a:rPr>
                <a:t>覆盖SQL注入、SSH爆破等7种典型攻击手段解析</a:t>
              </a:r>
            </a:p>
          </p:txBody>
        </p:sp>
      </p:grpSp>
      <p:sp>
        <p:nvSpPr>
          <p:cNvPr id="16" name="AutoShape 16"/>
          <p:cNvSpPr/>
          <p:nvPr/>
        </p:nvSpPr>
        <p:spPr>
          <a:xfrm>
            <a:off x="9295305" y="5890260"/>
            <a:ext cx="2795827" cy="825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9413" y="6061710"/>
            <a:ext cx="291738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741733" y="5976620"/>
            <a:ext cx="2248817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多维能力画像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6类维度检测分析，生成综合能力评级与提升建议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24D40A9F-023B-68CD-5C3C-BEF89E70EC31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5178193" y="2263195"/>
            <a:ext cx="6835210" cy="3144520"/>
          </a:xfrm>
          <a:prstGeom prst="roundRect">
            <a:avLst>
              <a:gd name="adj" fmla="val 5161"/>
            </a:avLst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扩展模块 — 安全威胁狩猎（v3.0）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741" b="1741"/>
          <a:stretch/>
        </p:blipFill>
        <p:spPr>
          <a:xfrm>
            <a:off x="84423" y="1878898"/>
            <a:ext cx="5257251" cy="2953338"/>
          </a:xfrm>
          <a:prstGeom prst="roundRect">
            <a:avLst>
              <a:gd name="adj" fmla="val 6282"/>
            </a:avLst>
          </a:prstGeom>
          <a:noFill/>
          <a:ln w="25400" cap="flat" cmpd="sng">
            <a:solidFill>
              <a:srgbClr val="00E5FF">
                <a:alpha val="30000"/>
              </a:srgbClr>
            </a:solidFill>
            <a:prstDash val="solid"/>
            <a:round/>
          </a:ln>
          <a:effectLst>
            <a:outerShdw blurRad="254000" dir="2700000" algn="tl" rotWithShape="0">
              <a:srgbClr val="00E5FF">
                <a:alpha val="2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508000" y="5207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E5E7EB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依托主动防御架构，将传统的“日志审查”升级为智能化的“威胁狩猎”。通过多维数据关联与AI深度分析，实现从被动告警到主动发现隐匿威胁的跨越，为业务系统构建坚不可摧的安全防线。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5461000" y="1651000"/>
            <a:ext cx="609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核心能力跃升：从单点审查到智能协同</a:t>
            </a:r>
            <a:endParaRPr lang="en-US" sz="110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5461000" y="2413000"/>
          <a:ext cx="6096000" cy="20828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关键维度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v2.1 基础版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v3.0 增强版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分析引擎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单关键词匹配引擎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4D3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关键词 + LLM 双引擎驱动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文件处理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仅支持单文件上传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4D3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多文件并发与关联分析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检测规则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基础攻击链识别规则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4D3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覆盖22种复杂检测模式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容错机制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9CA3A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无异常容错处理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1" i="0" u="none" strike="noStrike">
                          <a:solidFill>
                            <a:srgbClr val="34D39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4层JSON截断智能修复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6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AutoShape 8"/>
          <p:cNvSpPr/>
          <p:nvPr/>
        </p:nvSpPr>
        <p:spPr>
          <a:xfrm>
            <a:off x="5461000" y="5270500"/>
            <a:ext cx="6096000" cy="952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88000" y="5372100"/>
            <a:ext cx="5842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智能容错解析流程：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完整解析 → 异常截断自动修复 → 正则提取关键片段 → 关键词兜底匹配。四层递进机制确保日志分析不中断、数据无遗漏，提升系统鲁棒性。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RAG 知识库体系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五大核心知识库资源池（总计 259 条文档）</a:t>
            </a:r>
            <a:endParaRPr lang="en-US" sz="110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762000" y="2159000"/>
          <a:ext cx="6350000" cy="266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知识库名称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文档数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核心数据来源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日志基础库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log_features, risk_rules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合规审计库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compliance_standards, baselines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采集架构库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collect_templates, device_protocol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技术脚本库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59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script_gen_*.json (9类场景)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实训案例库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85098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177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FFFFFF">
                              <a:alpha val="70196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training_scenarios, fault_kb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5080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智能嵌入降级策略（适配异构算力环境）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524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25500" y="5613400"/>
            <a:ext cx="190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01. BGE (1024维)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GPU环境首选，语义理解精度最高，适合复杂推理场景。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2921000" y="5524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984500" y="5613400"/>
            <a:ext cx="190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02. MiniLM (384维)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CPU轻量版，兼顾速度与效果，平衡型检索方案。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080000" y="5524500"/>
            <a:ext cx="2032000" cy="9525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143500" y="5613400"/>
            <a:ext cx="1905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03. N-gram (128维)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极端低耗模式，极速响应，适配边缘端或低配环境。</a:t>
            </a:r>
          </a:p>
        </p:txBody>
      </p:sp>
      <p:pic>
        <p:nvPicPr>
          <p:cNvPr id="13" name="Picture 13"/>
          <p:cNvPicPr>
            <a:picLocks/>
          </p:cNvPicPr>
          <p:nvPr/>
        </p:nvPicPr>
        <p:blipFill>
          <a:blip r:embed="rId4"/>
          <a:srcRect l="30862" t="39026" r="29448" b="-2"/>
          <a:stretch>
            <a:fillRect/>
          </a:stretch>
        </p:blipFill>
        <p:spPr>
          <a:xfrm>
            <a:off x="8242757" y="2160553"/>
            <a:ext cx="2618210" cy="696947"/>
          </a:xfrm>
          <a:prstGeom prst="round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4" name="AutoShape 14"/>
          <p:cNvSpPr/>
          <p:nvPr/>
        </p:nvSpPr>
        <p:spPr>
          <a:xfrm>
            <a:off x="7620000" y="3111500"/>
            <a:ext cx="3810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747000" y="3203689"/>
            <a:ext cx="3600770" cy="1622311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</a:t>
            </a: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ChromaDB</a:t>
            </a: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作为底层向量存储引擎，专为大模型</a:t>
            </a: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 RAG </a:t>
            </a:r>
            <a:r>
              <a:rPr lang="en-US" sz="13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场景设计。支持内存与磁盘混合存储，实现毫秒级的上下文检索与召回，确保对话系统的实时性与准确性</a:t>
            </a:r>
            <a:r>
              <a:rPr lang="en-US" sz="1300" b="0" i="0" u="none" strike="noStrike" dirty="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6" name="AutoShape 16"/>
          <p:cNvSpPr/>
          <p:nvPr/>
        </p:nvSpPr>
        <p:spPr>
          <a:xfrm>
            <a:off x="7620000" y="5080000"/>
            <a:ext cx="12065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5207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47000" y="5588000"/>
            <a:ext cx="107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动态扩容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支持知识库热插拔，无需停机即可更新资产数据。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8915400" y="5080000"/>
            <a:ext cx="12065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42400" y="5207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042400" y="5588000"/>
            <a:ext cx="107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极速检索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基于余弦相似度的近似最近邻搜索，毫秒级响应。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0223500" y="5080000"/>
            <a:ext cx="1206500" cy="1460500"/>
          </a:xfrm>
          <a:prstGeom prst="roundRect">
            <a:avLst>
              <a:gd name="adj" fmla="val 0"/>
            </a:avLst>
          </a:prstGeom>
          <a:solidFill>
            <a:srgbClr val="00E5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350500" y="52070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0350500" y="5588000"/>
            <a:ext cx="107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安全隔离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多租户数据物理隔离，保障企业知识资产安全。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CLI 工具特色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01 / 双模式交互引擎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222500"/>
            <a:ext cx="279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387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95400" y="2349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层级化菜单导航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6E6E6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预设8大功能菜单，层级引导式操作，零基础用户也能快速上手，降低学习成本。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683000" y="2222500"/>
            <a:ext cx="279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E5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35400" y="2387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216400" y="2349500"/>
            <a:ext cx="222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AI 自然语言对话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E6E6E6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NLU意图识别 + RAG检索增强，直接以口语化指令交互，系统自动调度模块并润色输出。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3683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02 / 16+ 核心命令参数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842000" cy="13335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89000" y="4292600"/>
            <a:ext cx="558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A5D6A7"/>
                </a:solidFill>
                <a:latin typeface="Roboto Mono"/>
                <a:ea typeface="Roboto Mono"/>
                <a:cs typeface="Roboto Mono"/>
                <a:sym typeface="Roboto Mono"/>
              </a:rPr>
              <a:t># 解析审计日志 &amp; AI智能问答</a:t>
            </a:r>
            <a:br>
              <a:rPr lang="en-US" sz="13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Roboto Mono"/>
                <a:ea typeface="Roboto Mono"/>
                <a:cs typeface="Roboto Mono"/>
                <a:sym typeface="Roboto Mono"/>
              </a:rPr>
              <a:t>$ log-guard -f /var/log/auth.log | log-guard --ask "什么是提权攻击"</a:t>
            </a:r>
            <a:br>
              <a:rPr lang="en-US" sz="13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A5D6A7"/>
                </a:solidFill>
                <a:latin typeface="Roboto Mono"/>
                <a:ea typeface="Roboto Mono"/>
                <a:cs typeface="Roboto Mono"/>
                <a:sym typeface="Roboto Mono"/>
              </a:rPr>
              <a:t># 故障诊断 &amp; 合规基线检查</a:t>
            </a:r>
            <a:br>
              <a:rPr lang="en-US" sz="1300" b="0" i="0" u="none" strike="noStrike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US" sz="1300" b="0" i="0" u="none" strike="noStrike">
                <a:solidFill>
                  <a:srgbClr val="DCDCDC"/>
                </a:solidFill>
                <a:latin typeface="Roboto Mono"/>
                <a:ea typeface="Roboto Mono"/>
                <a:cs typeface="Roboto Mono"/>
                <a:sym typeface="Roboto Mono"/>
              </a:rPr>
              <a:t>$ log-guard --diag "SSH超时" | log-guard --baseline 50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5842000" cy="5715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5880100"/>
            <a:ext cx="228600" cy="228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19200" y="5816600"/>
            <a:ext cx="5334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极简部署：</a:t>
            </a:r>
            <a:r>
              <a:rPr lang="en-US" sz="14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唯一运行时依赖仅需 Python 环境与 `requests&gt;=2.25`，跨平台即装即用。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rcRect t="3418" b="3418"/>
          <a:stretch/>
        </p:blipFill>
        <p:spPr>
          <a:xfrm>
            <a:off x="6985000" y="1651000"/>
            <a:ext cx="4572000" cy="2895600"/>
          </a:xfrm>
          <a:prstGeom prst="rect">
            <a:avLst/>
          </a:prstGeom>
          <a:noFill/>
          <a:ln w="25400" cap="flat" cmpd="sng">
            <a:solidFill>
              <a:srgbClr val="00E5FF">
                <a:alpha val="4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E5FF">
                <a:alpha val="15000"/>
              </a:srgbClr>
            </a:outerShdw>
          </a:effectLst>
        </p:spPr>
      </p:pic>
      <p:sp>
        <p:nvSpPr>
          <p:cNvPr id="18" name="AutoShape 18"/>
          <p:cNvSpPr/>
          <p:nvPr/>
        </p:nvSpPr>
        <p:spPr>
          <a:xfrm>
            <a:off x="6985000" y="4826000"/>
            <a:ext cx="457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112000" y="4953000"/>
            <a:ext cx="431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轻量高效的终端体验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摒弃臃肿的图形界面，通过命令行实现毫秒级响应。支持管道符联动与脚本化调用，完美融入自动化运维与安全分析工作流，释放极致效率。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cap="flat" cmpd="sng">
            <a:solidFill>
              <a:srgbClr val="00000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工程化设计模式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409489"/>
              </p:ext>
            </p:extLst>
          </p:nvPr>
        </p:nvGraphicFramePr>
        <p:xfrm>
          <a:off x="587828" y="1326189"/>
          <a:ext cx="7794171" cy="4228279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86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34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2794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设计模式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实现规模/位置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 dirty="0" err="1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核心价值与收益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0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工厂模式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6+ 核心工厂类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对象创建解耦，新增场景仅需注册，无需修改核心逻辑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0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策略模式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20+ 策略实现类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设备适配、攻击检测与合规规则的逻辑动态切换与扩展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0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单例模式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10+ 全局单例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统一管理全局配置、日志服务、LLM客户端与RAG知识库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0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模板方法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Base 基类体系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父类定义标准流程骨架，子类聚焦业务细节，规范统一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097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注册模式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全工厂注册机制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016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E6E6E6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完美践行开闭原则，系统扩展对修改关闭，仅需新增注册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7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314667" y="5850634"/>
            <a:ext cx="11822512" cy="711200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35000"/>
              </a:srgbClr>
            </a:solidFill>
            <a:prstDash val="solid"/>
            <a:round/>
          </a:ln>
        </p:spPr>
        <p:txBody>
          <a:bodyPr vert="horz" wrap="square" lIns="152400" tIns="101600" rIns="152400" bIns="0" rtlCol="0" anchor="ctr" anchorCtr="0"/>
          <a:lstStyle/>
          <a:p>
            <a:pPr marL="0"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架构约束：模块零耦合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— 五大业务模块禁止直接互相 import，通过 ContextManager 统一传递上下文数据，彻底消除强依赖，保障系统的高内聚与灵活性。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743813" y="2100068"/>
            <a:ext cx="2427435" cy="2657863"/>
          </a:xfrm>
          <a:prstGeom prst="roundRect">
            <a:avLst>
              <a:gd name="adj" fmla="val 0"/>
            </a:avLst>
          </a:prstGeom>
          <a:solidFill>
            <a:srgbClr val="FFFFFF">
              <a:alpha val="6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152400" tIns="127000" rIns="15240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5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架构收益与目标</a:t>
            </a:r>
            <a:endParaRPr lang="en-US" sz="1100" dirty="0"/>
          </a:p>
          <a:p>
            <a:pPr marL="0" indent="0" algn="ctr">
              <a:lnSpc>
                <a:spcPct val="108333"/>
              </a:lnSpc>
            </a:pPr>
            <a:r>
              <a:rPr lang="en-US" sz="13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通过标准化的设计模式，构建了高扩展性的系统骨架。这不仅大幅降低了系统的维护成本和技术债务，更将新功能的开发与上线效率提升了40%以上，实现了对业务需求的敏捷响应。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各版本核心变化对比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0E5FF">
              <a:alpha val="15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889000" y="18034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版本迭代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7940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核心痛点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588000" y="18034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763000" y="1803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关键成果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2476500"/>
            <a:ext cx="1066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26035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v1.0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基础搭建期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794000" y="2603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如何快速搭建5大安全模块？解决后端架构的快速落地与模块化拆分难题。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2603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采用工厂+策略设计模式，实现模块间零耦合，支持灵活扩展与独立部署。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763000" y="2603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输出25个标准化API接口，完成5个核心后端安全模块的解耦与落地。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517900"/>
            <a:ext cx="1066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89000" y="36449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v2.0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产品化升级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794000" y="36449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如何将单一API服务转化为可交付、可运维的完整产品形态？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588000" y="36449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Vue3构建前端交互，集成RAG增强知识库，配套CLI工具与CI/CD自动化流水线。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763000" y="36449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新增202个核心文件，代码增量近3万行，实现从接口到完整产品的跨越。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559300"/>
            <a:ext cx="1066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889000" y="46863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v2.1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体验优化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794000" y="46863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用户操作存在流程断点，实训效率偏低，且存在部分交互体验Bug。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588000" y="46863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重构交互链路打通页面数据流转，针对性修复高频痛点与8个关键Bug。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763000" y="46863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实训效率提升50%，操作流程更顺滑，系统稳定性与易用性显著增强。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600700"/>
            <a:ext cx="10668000" cy="9144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89000" y="5727700"/>
            <a:ext cx="177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v3.0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智能进阶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2794000" y="57277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安全日志关联分析维度单一，缺乏智能化的威胁挖掘与推理能力。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5588000" y="57277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引入LLM双引擎驱动，支持多源文件关联分析，构建4层智能容错机制。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8763000" y="57277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实现从被动防御到主动威胁狩猎的升级，分析维度全面智能化。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206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测试体系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551007" y="7620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369+ </a:t>
            </a:r>
            <a:r>
              <a:rPr lang="en-US" sz="20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单元测试，核心模块全覆盖验证</a:t>
            </a:r>
            <a:endParaRPr lang="en-US" sz="1100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4064760"/>
              </p:ext>
            </p:extLst>
          </p:nvPr>
        </p:nvGraphicFramePr>
        <p:xfrm>
          <a:off x="762000" y="1651000"/>
          <a:ext cx="9487174" cy="2946401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69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1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6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3833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测试模块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用例数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覆盖核心场景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5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31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API 接口层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11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全量端点集成、鉴权与异常容错测试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E5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31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脚本生成引擎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5种生成策略、动态配置加载与模板渲染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31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日志解析与CLI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38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多格式解析器适配、命令行交互与输出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3142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E5E7E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基础与智能层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00E5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~270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 dirty="0" err="1">
                          <a:solidFill>
                            <a:srgbClr val="D1D5D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LLM意图分类、日志采集策略、通用工具库</a:t>
                      </a:r>
                      <a:endParaRPr lang="en-US" sz="1100" dirty="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AutoShape 6"/>
          <p:cNvSpPr/>
          <p:nvPr/>
        </p:nvSpPr>
        <p:spPr>
          <a:xfrm>
            <a:off x="762000" y="4800600"/>
            <a:ext cx="609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自动化交付保障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 (CI/CD)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761999" y="5405586"/>
            <a:ext cx="3612647" cy="1058668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399" y="5634183"/>
            <a:ext cx="378356" cy="378356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69999" y="5532668"/>
            <a:ext cx="2920864" cy="8318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PR触发自动并行测试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3.11环境，快速反馈代码质量风险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953548" y="5405586"/>
            <a:ext cx="4289128" cy="1058668"/>
          </a:xfrm>
          <a:prstGeom prst="roundRect">
            <a:avLst>
              <a:gd name="adj" fmla="val 0"/>
            </a:avLst>
          </a:prstGeom>
          <a:solidFill>
            <a:srgbClr val="00E5FF">
              <a:alpha val="1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91103" y="5584116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651091" y="5528657"/>
            <a:ext cx="4420422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版本自动打包与分发</a:t>
            </a:r>
            <a:endParaRPr lang="en-US" sz="1100" dirty="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关联GitHub</a:t>
            </a:r>
            <a:r>
              <a:rPr lang="en-US" sz="12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2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Release，基于日期生成语义化版本</a:t>
            </a:r>
            <a:endParaRPr lang="en-US" sz="1200" b="0" i="0" u="none" strike="noStrike" dirty="0">
              <a:solidFill>
                <a:srgbClr val="D1D5DB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项目数据总览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98750"/>
            <a:ext cx="3556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285115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🚀 </a:t>
            </a:r>
            <a:r>
              <a:rPr lang="en-US" sz="1600" b="1" i="0" u="none" strike="noStrike" dirty="0" err="1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极速开发周期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952500" y="320675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10 天</a:t>
            </a:r>
            <a:r>
              <a:rPr lang="en-US" sz="1400" b="0" i="0" u="none" strike="noStrike" dirty="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(2026.07.14 - 07.24)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762000" y="3937000"/>
            <a:ext cx="3556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952500" y="4089400"/>
            <a:ext cx="330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💻 核心代码产出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52500" y="4445000"/>
            <a:ext cx="330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38,058 行</a:t>
            </a: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/ 236个文件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826000" y="139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16500" y="1549400"/>
            <a:ext cx="279400" cy="279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397500" y="154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版本迭代活跃度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016500" y="193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78 次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Git 提交记录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445500" y="139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0" y="15494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154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全栈功能交付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636000" y="193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29 接口 / 21 页面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826000" y="266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16500" y="2819400"/>
            <a:ext cx="279400" cy="279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5397500" y="281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智能知识底座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5016500" y="320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259 条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知识库文档(5个库)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445500" y="266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6000" y="2819400"/>
            <a:ext cx="279400" cy="279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017000" y="281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质量保障体系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636000" y="320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369 个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测试用例(100%通过)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4826000" y="393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16500" y="4089400"/>
            <a:ext cx="279400" cy="2794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397500" y="408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架构设计模式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5016500" y="447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6 种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经典设计模式落地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445500" y="393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6000" y="4089400"/>
            <a:ext cx="279400" cy="2794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9017000" y="408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威胁对抗场景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8636000" y="447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22 种</a:t>
            </a: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攻击链模式覆盖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4826000" y="520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16500" y="5359400"/>
            <a:ext cx="279400" cy="279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5397500" y="535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数据采集与分析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5016500" y="574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5 解析 / 4 策略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8445500" y="5207000"/>
            <a:ext cx="3429000" cy="1079500"/>
          </a:xfrm>
          <a:prstGeom prst="roundRect">
            <a:avLst>
              <a:gd name="adj" fmla="val 0"/>
            </a:avLst>
          </a:prstGeom>
          <a:solidFill>
            <a:srgbClr val="0F172A">
              <a:alpha val="60000"/>
            </a:srgbClr>
          </a:solidFill>
          <a:ln w="12700" cap="flat" cmpd="sng">
            <a:solidFill>
              <a:srgbClr val="00E5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36000" y="5359400"/>
            <a:ext cx="279400" cy="2794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9017000" y="5359400"/>
            <a:ext cx="2794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实战教学场景</a:t>
            </a:r>
            <a:endParaRPr lang="en-US" sz="1100"/>
          </a:p>
        </p:txBody>
      </p:sp>
      <p:sp>
        <p:nvSpPr>
          <p:cNvPr id="42" name="AutoShape 42"/>
          <p:cNvSpPr/>
          <p:nvPr/>
        </p:nvSpPr>
        <p:spPr>
          <a:xfrm>
            <a:off x="8636000" y="574040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12 场景 / 20+ 任务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905000"/>
            <a:ext cx="1079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日志溯源卫士智能体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175000"/>
            <a:ext cx="1079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驱动的安全日志分析与网络安全实训平台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2545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研发周期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10 天</a:t>
            </a:r>
            <a:r>
              <a:rPr lang="en-US" sz="1600" b="0" i="0" u="none" strike="noStrike" dirty="0">
                <a:solidFill>
                  <a:srgbClr val="FFFFFF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600" b="0" i="0" u="none" strike="noStrike" dirty="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38,058 行</a:t>
            </a:r>
            <a:r>
              <a:rPr lang="en-US" sz="1600" b="0" i="0" u="none" strike="noStrike" dirty="0">
                <a:solidFill>
                  <a:srgbClr val="FFFFFF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600" b="0" i="0" u="none" strike="noStrike" dirty="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业务模块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5 大模块</a:t>
            </a:r>
            <a:r>
              <a:rPr lang="en-US" sz="1600" b="0" i="0" u="none" strike="noStrike" dirty="0">
                <a:solidFill>
                  <a:srgbClr val="FFFFFF">
                    <a:alpha val="3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sz="1600" b="0" i="0" u="none" strike="noStrike" dirty="0">
                <a:solidFill>
                  <a:srgbClr val="FFFFFF">
                    <a:alpha val="6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接口服务</a:t>
            </a:r>
            <a:r>
              <a:rPr lang="en-US" sz="1800" b="1" i="0" u="none" strike="noStrike" dirty="0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29 个 API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E5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2304</Words>
  <Application>Microsoft Office PowerPoint</Application>
  <PresentationFormat>宽屏</PresentationFormat>
  <Paragraphs>426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26" baseType="lpstr">
      <vt:lpstr>Noto Sans SC</vt:lpstr>
      <vt:lpstr>Arial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 lv</cp:lastModifiedBy>
  <cp:revision>3</cp:revision>
  <dcterms:modified xsi:type="dcterms:W3CDTF">2026-07-25T03:01:55Z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{"Label":"1","ContentProducer":"001191110102MACQD9K64010000","ProduceID":"7666261653805501399","ReservedCode1":"","ContentPropagator":"","PropagateID":"","ReservedCode2":""}</vt:lpwstr>
  </property>
</Properties>
</file>